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4" r:id="rId5"/>
    <p:sldId id="261" r:id="rId6"/>
    <p:sldId id="265" r:id="rId7"/>
    <p:sldId id="266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9" autoAdjust="0"/>
    <p:restoredTop sz="94610"/>
  </p:normalViewPr>
  <p:slideViewPr>
    <p:cSldViewPr snapToGrid="0" snapToObjects="1">
      <p:cViewPr>
        <p:scale>
          <a:sx n="167" d="100"/>
          <a:sy n="167" d="100"/>
        </p:scale>
        <p:origin x="115" y="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5531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640080"/>
            <a:ext cx="2194560" cy="2194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5943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LangGraph RAG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11480" y="15544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with LangGraph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11480" y="22402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stateful, graph-based pipeline that retrieves relevant chunks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FAISS vector store and generates answers with GPT-4o-mini.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11480" y="3246120"/>
            <a:ext cx="1737360" cy="411480"/>
          </a:xfrm>
          <a:prstGeom prst="roundRect">
            <a:avLst>
              <a:gd name="adj" fmla="val 44444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11480" y="3246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LangGraph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331720" y="3246120"/>
            <a:ext cx="1737360" cy="411480"/>
          </a:xfrm>
          <a:prstGeom prst="roundRect">
            <a:avLst>
              <a:gd name="adj" fmla="val 44444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331720" y="3246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FAISS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51960" y="3246120"/>
            <a:ext cx="1737360" cy="411480"/>
          </a:xfrm>
          <a:prstGeom prst="roundRect">
            <a:avLst>
              <a:gd name="adj" fmla="val 44444"/>
            </a:avLst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251960" y="3246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GPT-4o-mini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 ·  OpenAI Embeddings  ·  Python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is RAG?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 grounds an LLM's answers in real documents.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relying on training data alone, the model is given relevant context at query 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274320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7373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" y="237744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Ground truth docs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28346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knowledge lives in docs/knowledge.txt — plain text you control and can update.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0" y="1600200"/>
            <a:ext cx="274320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73736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10128" y="237744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Vector store (FAISS)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337560" y="28346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chunked, embedded, and stored locally. Fast cosine-similarity lookup at runtime.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126480" y="1600200"/>
            <a:ext cx="274320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73736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36208" y="237744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LLM + context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263640" y="28346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receives the retrieved chunks as context and answers only from that evidence.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Two-Phase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931920" cy="4069080"/>
          </a:xfrm>
          <a:prstGeom prst="rect">
            <a:avLst/>
          </a:prstGeom>
          <a:solidFill>
            <a:srgbClr val="EEEDFE"/>
          </a:solidFill>
          <a:ln w="19050">
            <a:solidFill>
              <a:srgbClr val="534AB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34AB7"/>
                </a:solidFill>
              </a:rPr>
              <a:t>Phase 1 — Ingest  (ingest.py)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9EC2"/>
                </a:solidFill>
              </a:rPr>
              <a:t>Run once to build the vector store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347472" cy="34747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6093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Read knowledge.txt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8653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from docs/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9496" y="1975104"/>
            <a:ext cx="0" cy="402336"/>
          </a:xfrm>
          <a:prstGeom prst="line">
            <a:avLst/>
          </a:prstGeom>
          <a:noFill/>
          <a:ln w="12700">
            <a:solidFill>
              <a:srgbClr val="534AB7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347472" cy="34747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3591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Split into chunks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6151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chunk=300, overlap=50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9496" y="2724912"/>
            <a:ext cx="0" cy="402336"/>
          </a:xfrm>
          <a:prstGeom prst="line">
            <a:avLst/>
          </a:prstGeom>
          <a:noFill/>
          <a:ln w="12700">
            <a:solidFill>
              <a:srgbClr val="534AB7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5760" y="3127248"/>
            <a:ext cx="347472" cy="34747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1089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Embed chunks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3649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OpenAIEmbeddings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9496" y="3474720"/>
            <a:ext cx="0" cy="402336"/>
          </a:xfrm>
          <a:prstGeom prst="line">
            <a:avLst/>
          </a:prstGeom>
          <a:noFill/>
          <a:ln w="12700">
            <a:solidFill>
              <a:srgbClr val="534AB7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5760" y="3877056"/>
            <a:ext cx="347472" cy="34747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65760" y="3877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3858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Save to FAISS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41148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vectorstore/ directory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777240"/>
            <a:ext cx="4343400" cy="4069080"/>
          </a:xfrm>
          <a:prstGeom prst="rect">
            <a:avLst/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663440" y="8686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</a:rPr>
              <a:t>Phase 2 — Query  (langgraph_rag.py)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63440" y="12344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9EC2"/>
                </a:solidFill>
              </a:rPr>
              <a:t>Runs interactively at question time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1627632"/>
            <a:ext cx="347472" cy="34747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0916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16093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User asks question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66360" y="18653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GraphState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82896" y="1975104"/>
            <a:ext cx="0" cy="402336"/>
          </a:xfrm>
          <a:prstGeom prst="line">
            <a:avLst/>
          </a:prstGeom>
          <a:noFill/>
          <a:ln w="12700">
            <a:solidFill>
              <a:srgbClr val="1D9E7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709160" y="2377440"/>
            <a:ext cx="347472" cy="34747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0916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66360" y="2359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retrieve node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26151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similarity_search k=2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82896" y="2724912"/>
            <a:ext cx="0" cy="402336"/>
          </a:xfrm>
          <a:prstGeom prst="line">
            <a:avLst/>
          </a:prstGeom>
          <a:noFill/>
          <a:ln w="12700">
            <a:solidFill>
              <a:srgbClr val="1D9E7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709160" y="3127248"/>
            <a:ext cx="347472" cy="34747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709160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66360" y="3108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generate_answer node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66360" y="3364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prompt → GPT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82896" y="3474720"/>
            <a:ext cx="0" cy="402336"/>
          </a:xfrm>
          <a:prstGeom prst="line">
            <a:avLst/>
          </a:prstGeom>
          <a:noFill/>
          <a:ln w="12700">
            <a:solidFill>
              <a:srgbClr val="1D9E7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709160" y="3877056"/>
            <a:ext cx="347472" cy="34747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709160" y="3877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66360" y="3858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Answer returned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166360" y="4114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to console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LangGraph over LangChain?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38912" y="74980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for this simple demo, LangChain LCEL would work in ~10 lines and be less code. LangGraph shines when the pipeline has branches, loops, or multiple agents.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1444752"/>
            <a:ext cx="85953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Capability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4447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LangChain (LCEL)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0" y="14447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LangGraph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28800"/>
            <a:ext cx="8595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Linear pipeline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1828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9E75"/>
                </a:solidFill>
              </a:rPr>
              <a:t>✅  Perfect fit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EC2"/>
                </a:solidFill>
              </a:rPr>
              <a:t>Works — overkill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212848"/>
            <a:ext cx="8595360" cy="365760"/>
          </a:xfrm>
          <a:prstGeom prst="rect">
            <a:avLst/>
          </a:prstGeom>
          <a:solidFill>
            <a:srgbClr val="F4F7FF"/>
          </a:solidFill>
          <a:ln w="6350">
            <a:solidFill>
              <a:srgbClr val="DD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5760" y="2212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Conditional branching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22128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5A30"/>
                </a:solidFill>
              </a:rPr>
              <a:t>❌  Awkward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22128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9E75"/>
                </a:solidFill>
              </a:rPr>
              <a:t>✅  Native add_edge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596896"/>
            <a:ext cx="8595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" y="25968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Loops / retry logic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25968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5A30"/>
                </a:solidFill>
              </a:rPr>
              <a:t>❌  Hard to express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5968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9E75"/>
                </a:solidFill>
              </a:rPr>
              <a:t>✅  Built-in cycles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980944"/>
            <a:ext cx="8595360" cy="365760"/>
          </a:xfrm>
          <a:prstGeom prst="rect">
            <a:avLst/>
          </a:prstGeom>
          <a:solidFill>
            <a:srgbClr val="F4F7FF"/>
          </a:solidFill>
          <a:ln w="6350">
            <a:solidFill>
              <a:srgbClr val="DD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65760" y="29809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Multi-agent systems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0" y="29809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5A30"/>
                </a:solidFill>
              </a:rPr>
              <a:t>❌  Not designed for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29809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9E75"/>
                </a:solidFill>
              </a:rPr>
              <a:t>✅  Core use-case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364992"/>
            <a:ext cx="85953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65760" y="33649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Human-in-the-loop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0" y="33649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5A30"/>
                </a:solidFill>
              </a:rPr>
              <a:t>❌  Manual workaround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33649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9E75"/>
                </a:solidFill>
              </a:rPr>
              <a:t>✅  interrupt() support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749040"/>
            <a:ext cx="8595360" cy="365760"/>
          </a:xfrm>
          <a:prstGeom prst="rect">
            <a:avLst/>
          </a:prstGeom>
          <a:solidFill>
            <a:srgbClr val="F4F7FF"/>
          </a:solidFill>
          <a:ln w="6350">
            <a:solidFill>
              <a:srgbClr val="DD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6576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State across turns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0" y="3749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5A30"/>
                </a:solidFill>
              </a:rPr>
              <a:t>❌  No built-in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9E75"/>
                </a:solidFill>
              </a:rPr>
              <a:t>✅  GraphState + checkpoints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" y="4187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LangGraph pays off when you extend this RAG with: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45079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Relevance grader → re-retrieve if docs are poor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Query rewriter → rewrite before retrying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Hallucination checker → loop back if answer not grounded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Web fallback → search web if vectorstore misses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GraphState — Shared Memory Across Nodes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GraphState is a TypedDict that flows through the graph. Each node reads what it needs and writes back its output. No global variables — state is the message.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81328"/>
            <a:ext cx="2194560" cy="438912"/>
          </a:xfrm>
          <a:prstGeom prst="rect">
            <a:avLst/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48132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85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15087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E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15087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user at startup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15087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retrieve → generate_answer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2194560" cy="43891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221284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retrieved_docs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24028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E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2240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retrieve node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22402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generate_answer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44368"/>
            <a:ext cx="2194560" cy="43891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4320" y="294436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29718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E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971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generate_answer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29718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9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END (final output)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12801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Field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51760" y="12801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Type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12801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Set by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12801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Flows to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069080"/>
            <a:ext cx="8595360" cy="777240"/>
          </a:xfrm>
          <a:prstGeom prst="rect">
            <a:avLst/>
          </a:prstGeom>
          <a:solidFill>
            <a:srgbClr val="1A2540"/>
          </a:solidFill>
          <a:ln w="1270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7200" y="414223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E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Invoke the compiled graph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app.invoke({</a:t>
            </a:r>
            <a:r>
              <a:rPr lang="en-US" sz="1100" dirty="0">
                <a:solidFill>
                  <a:srgbClr val="FAC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"question"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0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is LangGraph?"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    →    result[</a:t>
            </a:r>
            <a:r>
              <a:rPr lang="en-US" sz="1100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"answer"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GPT's reply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LangGraph RAG — DAG (Directed Acyclic Graph)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E9EC2"/>
                </a:solidFill>
              </a:rPr>
              <a:t>Nodes = processing steps  ·  Edges = data flow  ·  Conditional edge = decision with possible retry loop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1440" y="2194560"/>
            <a:ext cx="914400" cy="658368"/>
          </a:xfrm>
          <a:prstGeom prst="roundRect">
            <a:avLst>
              <a:gd name="adj" fmla="val 50000"/>
            </a:avLst>
          </a:prstGeom>
          <a:solidFill>
            <a:srgbClr val="444466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" y="219456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188720" y="2194560"/>
            <a:ext cx="1737360" cy="658368"/>
          </a:xfrm>
          <a:prstGeom prst="rect">
            <a:avLst/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88720" y="2231136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5540"/>
                </a:solidFill>
              </a:rPr>
              <a:t>retrieve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2523744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7A5A"/>
                </a:solidFill>
              </a:rPr>
              <a:t>similarity_search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D7A5A"/>
                </a:solidFill>
              </a:rPr>
              <a:t>(k=2)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37560" y="2194560"/>
            <a:ext cx="2240280" cy="658368"/>
          </a:xfrm>
          <a:prstGeom prst="rect">
            <a:avLst/>
          </a:prstGeom>
          <a:solidFill>
            <a:srgbClr val="FAECE7"/>
          </a:solidFill>
          <a:ln w="19050">
            <a:solidFill>
              <a:srgbClr val="D85A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37560" y="2231136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2510"/>
                </a:solidFill>
              </a:rPr>
              <a:t>generate_answer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2523744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4030"/>
                </a:solidFill>
              </a:rPr>
              <a:t>GPT-4o-mini · retries++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89320" y="2194560"/>
            <a:ext cx="1737360" cy="658368"/>
          </a:xfrm>
          <a:prstGeom prst="rect">
            <a:avLst/>
          </a:prstGeom>
          <a:solidFill>
            <a:srgbClr val="FFF3DC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89320" y="2231136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4500"/>
                </a:solidFill>
              </a:rPr>
              <a:t>check_answer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9320" y="2523744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A6600"/>
                </a:solidFill>
              </a:rPr>
              <a:t>"i don't know"?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AA6600"/>
                </a:solidFill>
              </a:rPr>
              <a:t>retries &lt; 2?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229600" y="2194560"/>
            <a:ext cx="777240" cy="658368"/>
          </a:xfrm>
          <a:prstGeom prst="roundRect">
            <a:avLst>
              <a:gd name="adj" fmla="val 50000"/>
            </a:avLst>
          </a:prstGeom>
          <a:solidFill>
            <a:srgbClr val="444466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29600" y="219456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END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05840" y="2523744"/>
            <a:ext cx="182880" cy="0"/>
          </a:xfrm>
          <a:prstGeom prst="line">
            <a:avLst/>
          </a:prstGeom>
          <a:noFill/>
          <a:ln w="19050">
            <a:solidFill>
              <a:srgbClr val="666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926080" y="2523744"/>
            <a:ext cx="411480" cy="0"/>
          </a:xfrm>
          <a:prstGeom prst="line">
            <a:avLst/>
          </a:prstGeom>
          <a:noFill/>
          <a:ln w="19050">
            <a:solidFill>
              <a:srgbClr val="666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577840" y="2523744"/>
            <a:ext cx="411480" cy="0"/>
          </a:xfrm>
          <a:prstGeom prst="line">
            <a:avLst/>
          </a:prstGeom>
          <a:noFill/>
          <a:ln w="19050">
            <a:solidFill>
              <a:srgbClr val="666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726680" y="2523744"/>
            <a:ext cx="502920" cy="0"/>
          </a:xfrm>
          <a:prstGeom prst="line">
            <a:avLst/>
          </a:prstGeom>
          <a:noFill/>
          <a:ln w="19050">
            <a:solidFill>
              <a:srgbClr val="6666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907792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E9E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retrieved_docs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559552" y="215798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E9E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8E9E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+retries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882128" y="2249424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D9E75"/>
                </a:solidFill>
              </a:rPr>
              <a:t>"end"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58000" y="1325880"/>
            <a:ext cx="0" cy="868680"/>
          </a:xfrm>
          <a:prstGeom prst="line">
            <a:avLst/>
          </a:prstGeom>
          <a:noFill/>
          <a:ln w="19050">
            <a:solidFill>
              <a:srgbClr val="F5A62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057400" y="1325880"/>
            <a:ext cx="480060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057400" y="1325880"/>
            <a:ext cx="0" cy="868680"/>
          </a:xfrm>
          <a:prstGeom prst="line">
            <a:avLst/>
          </a:prstGeom>
          <a:noFill/>
          <a:ln w="19050">
            <a:solidFill>
              <a:srgbClr val="F5A62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046220" y="105156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FF3DC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046220" y="10515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4500"/>
                </a:solidFill>
              </a:rPr>
              <a:t>"retry"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929384" y="1901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623"/>
                </a:solidFill>
              </a:rPr>
              <a:t>↓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127248"/>
            <a:ext cx="8595360" cy="548640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57200" y="31546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4AB7"/>
                </a:solidFill>
              </a:rPr>
              <a:t>GraphState  (shared across all nodes)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419856"/>
            <a:ext cx="1938528" cy="201168"/>
          </a:xfrm>
          <a:prstGeom prst="rect">
            <a:avLst/>
          </a:prstGeom>
          <a:solidFill>
            <a:srgbClr val="FAC775"/>
          </a:solidFill>
          <a:ln w="12700">
            <a:solidFill>
              <a:srgbClr val="FAC7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57200" y="3419856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85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0" y="3419856"/>
            <a:ext cx="1938528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560320" y="3419856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retrieved_docs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3419856"/>
            <a:ext cx="1938528" cy="2011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663440" y="3419856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66560" y="3419856"/>
            <a:ext cx="1938528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766560" y="3419856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4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retries  ← NEW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3794760"/>
            <a:ext cx="8595360" cy="1078992"/>
          </a:xfrm>
          <a:prstGeom prst="rect">
            <a:avLst/>
          </a:prstGeom>
          <a:solidFill>
            <a:srgbClr val="1A2540"/>
          </a:solidFill>
          <a:ln w="1270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57200" y="385876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
</a:t>
            </a:r>
            <a:r>
              <a:rPr lang="en-US" sz="1000" dirty="0">
                <a:solidFill>
                  <a:srgbClr val="D85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"generate_answer"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check_answer,  {
</a:t>
            </a: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"retry"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</a:t>
            </a:r>
            <a:r>
              <a:rPr lang="en-US" sz="1000" dirty="0">
                <a:solidFill>
                  <a:srgbClr val="1D9E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"retrieve"</a:t>
            </a:r>
            <a:r>
              <a:rPr lang="en-US" sz="1000" dirty="0">
                <a:solidFill>
                  <a:srgbClr val="8E9E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 # loop back if answer weak
</a:t>
            </a:r>
            <a:r>
              <a:rPr lang="en-US" sz="10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"end"  </a:t>
            </a: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END              # accept the answer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0D0D"/>
                </a:solidFill>
              </a:rPr>
              <a:t>LangGraph RAG — Updated Flow  (with Retry Loop)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48463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77777"/>
                </a:solidFill>
              </a:rPr>
              <a:t>Ingest pipeline (one-time setup)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37160" y="658368"/>
            <a:ext cx="1572768" cy="475488"/>
          </a:xfrm>
          <a:prstGeom prst="rect">
            <a:avLst/>
          </a:prstGeom>
          <a:solidFill>
            <a:srgbClr val="E8E6E0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73736" y="68580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knowledge.txt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3736" y="905256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</a:rPr>
              <a:t>Source docs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20240" y="658368"/>
            <a:ext cx="1828800" cy="475488"/>
          </a:xfrm>
          <a:prstGeom prst="rect">
            <a:avLst/>
          </a:prstGeom>
          <a:solidFill>
            <a:srgbClr val="E8E6E0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956816" y="685800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Text splitter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56816" y="905256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</a:rPr>
              <a:t>chunk 300, overlap 50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950208" y="658368"/>
            <a:ext cx="1901952" cy="475488"/>
          </a:xfrm>
          <a:prstGeom prst="rect">
            <a:avLst/>
          </a:prstGeom>
          <a:solidFill>
            <a:srgbClr val="E8E6E0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986784" y="685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</a:rPr>
              <a:t>OpenAI Embeddings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86784" y="9052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</a:rPr>
              <a:t>text-embedding-ada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709928" y="896112"/>
            <a:ext cx="210312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749040" y="896112"/>
            <a:ext cx="201168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989320" y="658368"/>
            <a:ext cx="1572768" cy="475488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989320" y="68580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34AB7"/>
                </a:solidFill>
              </a:rPr>
              <a:t>FAISS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89320" y="905256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77799"/>
                </a:solidFill>
              </a:rPr>
              <a:t>vectorstore/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852160" y="896112"/>
            <a:ext cx="13716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0" y="11887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</a:rPr>
              <a:t>LangGraph RAG app  (langgraph_rag.py)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468880" y="1371600"/>
            <a:ext cx="4206240" cy="438912"/>
          </a:xfrm>
          <a:prstGeom prst="rect">
            <a:avLst/>
          </a:prstGeom>
          <a:solidFill>
            <a:srgbClr val="E8E6E0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514600" y="138988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</a:rPr>
              <a:t>GraphState  —  question · retrieved_docs · answer · retries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0" y="1810512"/>
            <a:ext cx="0" cy="128016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926080" y="1938528"/>
            <a:ext cx="3291840" cy="420624"/>
          </a:xfrm>
          <a:prstGeom prst="roundRect">
            <a:avLst>
              <a:gd name="adj" fmla="val 50000"/>
            </a:avLst>
          </a:prstGeom>
          <a:solidFill>
            <a:srgbClr val="C2EBD8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926080" y="193852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5540"/>
                </a:solidFill>
              </a:rPr>
              <a:t>User question  (entry point)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" y="239572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state["question"]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0" y="2359152"/>
            <a:ext cx="0" cy="128016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331720" y="2487168"/>
            <a:ext cx="4114800" cy="457200"/>
          </a:xfrm>
          <a:prstGeom prst="rect">
            <a:avLst/>
          </a:prstGeom>
          <a:solidFill>
            <a:srgbClr val="C2EBD8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377440" y="251460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5540"/>
                </a:solidFill>
              </a:rPr>
              <a:t>retrieve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77440" y="272491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7A5A"/>
                </a:solidFill>
              </a:rPr>
              <a:t>similarity_search(question, k=2)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56832" y="2505456"/>
            <a:ext cx="1481328" cy="420624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656832" y="251460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34AB7"/>
                </a:solidFill>
              </a:rPr>
              <a:t>FAISS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656832" y="270662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77799"/>
                </a:solidFill>
              </a:rPr>
              <a:t>top-2 chunks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446520" y="2624328"/>
            <a:ext cx="210312" cy="0"/>
          </a:xfrm>
          <a:prstGeom prst="line">
            <a:avLst/>
          </a:prstGeom>
          <a:noFill/>
          <a:ln w="12700">
            <a:solidFill>
              <a:srgbClr val="9999C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446520" y="2788920"/>
            <a:ext cx="210312" cy="0"/>
          </a:xfrm>
          <a:prstGeom prst="line">
            <a:avLst/>
          </a:prstGeom>
          <a:noFill/>
          <a:ln w="12700">
            <a:solidFill>
              <a:srgbClr val="9999C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8288" y="2980944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state["retrieved_docs"]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0" y="2944368"/>
            <a:ext cx="0" cy="109728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2331720" y="3054096"/>
            <a:ext cx="4114800" cy="457200"/>
          </a:xfrm>
          <a:prstGeom prst="rect">
            <a:avLst/>
          </a:prstGeom>
          <a:solidFill>
            <a:srgbClr val="FAD6C8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377440" y="308152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A2510"/>
                </a:solidFill>
              </a:rPr>
              <a:t>generate_answer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377440" y="329184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4030"/>
                </a:solidFill>
              </a:rPr>
              <a:t>prompt → GPT-4o-mini → answer  +  retries++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656832" y="3072384"/>
            <a:ext cx="1481328" cy="420624"/>
          </a:xfrm>
          <a:prstGeom prst="rect">
            <a:avLst/>
          </a:prstGeom>
          <a:solidFill>
            <a:srgbClr val="FAD6C8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656832" y="308152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A2510"/>
                </a:solidFill>
              </a:rPr>
              <a:t>GPT-4o-mini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656832" y="327355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B04030"/>
                </a:solidFill>
              </a:rPr>
              <a:t>temp=0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446520" y="3273552"/>
            <a:ext cx="210312" cy="0"/>
          </a:xfrm>
          <a:prstGeom prst="line">
            <a:avLst/>
          </a:prstGeom>
          <a:noFill/>
          <a:ln w="12700">
            <a:solidFill>
              <a:srgbClr val="CC8877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572000" y="3511296"/>
            <a:ext cx="0" cy="109728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2331720" y="3621024"/>
            <a:ext cx="4114800" cy="457200"/>
          </a:xfrm>
          <a:prstGeom prst="rect">
            <a:avLst/>
          </a:prstGeom>
          <a:solidFill>
            <a:srgbClr val="FFF3DC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2377440" y="364845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A4500"/>
                </a:solidFill>
              </a:rPr>
              <a:t>check_answer  ← NEW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377440" y="385876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6600"/>
                </a:solidFill>
              </a:rPr>
              <a:t>"i don't know" + retries &lt; 2  →  retry   |   else  →  end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920240" y="2331720"/>
            <a:ext cx="0" cy="1289304"/>
          </a:xfrm>
          <a:prstGeom prst="line">
            <a:avLst/>
          </a:prstGeom>
          <a:noFill/>
          <a:ln w="19050">
            <a:solidFill>
              <a:srgbClr val="F5A62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1920240" y="2331720"/>
            <a:ext cx="41148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1920240" y="2377440"/>
            <a:ext cx="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1920240" y="2715768"/>
            <a:ext cx="41148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365760" y="2944368"/>
            <a:ext cx="1325880" cy="228600"/>
          </a:xfrm>
          <a:prstGeom prst="roundRect">
            <a:avLst>
              <a:gd name="adj" fmla="val 32000"/>
            </a:avLst>
          </a:prstGeom>
          <a:solidFill>
            <a:srgbClr val="FFF3DC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65760" y="29443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A4500"/>
                </a:solidFill>
              </a:rPr>
              <a:t>"retry" → retrieve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024128" y="2944368"/>
            <a:ext cx="1307592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73152" y="410565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state["answer"]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572000" y="4078224"/>
            <a:ext cx="0" cy="109728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617720" y="40507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D9E75"/>
                </a:solidFill>
              </a:rPr>
              <a:t>"end"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926080" y="4187952"/>
            <a:ext cx="3291840" cy="420624"/>
          </a:xfrm>
          <a:prstGeom prst="roundRect">
            <a:avLst>
              <a:gd name="adj" fmla="val 50000"/>
            </a:avLst>
          </a:prstGeom>
          <a:solidFill>
            <a:srgbClr val="FAECE7"/>
          </a:solidFill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2926080" y="418795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</a:rPr>
              <a:t>Final answer  —  END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1A2540"/>
          </a:solidFill>
          <a:ln w="6350">
            <a:solidFill>
              <a:srgbClr val="2A40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274320" y="46634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this version:  retries field in GraphState  ·  check_answer conditional node  ·  retry loop (max 2 retries)  ·  add_conditional_edges()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5"/>
                </a:solidFill>
              </a:rPr>
              <a:t>Key 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1188720"/>
          </a:xfrm>
          <a:prstGeom prst="rect">
            <a:avLst/>
          </a:prstGeom>
          <a:solidFill>
            <a:srgbClr val="0F2255"/>
          </a:solidFill>
          <a:ln w="12700">
            <a:solidFill>
              <a:srgbClr val="2A40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38912" y="960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Stateful graph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8912" y="13258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GraphState flows through every node — no globals, no hidden coupling. Each node reads and writes exactly what it needs.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868680"/>
            <a:ext cx="4160520" cy="1188720"/>
          </a:xfrm>
          <a:prstGeom prst="rect">
            <a:avLst/>
          </a:prstGeom>
          <a:solidFill>
            <a:srgbClr val="0F2255"/>
          </a:solidFill>
          <a:ln w="12700">
            <a:solidFill>
              <a:srgbClr val="2A40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19472" y="960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Grounded answers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19472" y="13258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similarity_search pulls the top-2 most relevant chunks. GPT only sees what's in the retrieved context.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160520" cy="1188720"/>
          </a:xfrm>
          <a:prstGeom prst="rect">
            <a:avLst/>
          </a:prstGeom>
          <a:solidFill>
            <a:srgbClr val="0F2255"/>
          </a:solidFill>
          <a:ln w="12700">
            <a:solidFill>
              <a:srgbClr val="2A40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38912" y="2331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Composable nodes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" y="26974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third node (e.g. a grader or re-ranker) is just add_node + add_edge. The graph wiring is declarative.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4160520" cy="1188720"/>
          </a:xfrm>
          <a:prstGeom prst="rect">
            <a:avLst/>
          </a:prstGeom>
          <a:solidFill>
            <a:srgbClr val="0F2255"/>
          </a:solidFill>
          <a:ln w="12700">
            <a:solidFill>
              <a:srgbClr val="2A40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19472" y="2331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Offline vector store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26974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once, query forever. FAISS saves to disk so you don't re-embed on every run.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4160520" cy="1188720"/>
          </a:xfrm>
          <a:prstGeom prst="rect">
            <a:avLst/>
          </a:prstGeom>
          <a:solidFill>
            <a:srgbClr val="0F2255"/>
          </a:solidFill>
          <a:ln w="12700">
            <a:solidFill>
              <a:srgbClr val="2A40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38912" y="3703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Zero-temperature LLM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" y="40690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temperature=0 makes answers deterministic and factual — ideal for RAG where hallucination is the main risk.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611880"/>
            <a:ext cx="4160520" cy="1188720"/>
          </a:xfrm>
          <a:prstGeom prst="rect">
            <a:avLst/>
          </a:prstGeom>
          <a:solidFill>
            <a:srgbClr val="0F2255"/>
          </a:solidFill>
          <a:ln w="12700">
            <a:solidFill>
              <a:srgbClr val="2A407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919472" y="3703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Extensible pattern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19472" y="406908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FAISS for Chroma, GPT for Llama, or add conditional edges for adaptive retrieval — the structure stays the same.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941</Words>
  <Application>Microsoft Office PowerPoint</Application>
  <PresentationFormat>On-screen Show (16:9)</PresentationFormat>
  <Paragraphs>170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LangGraph RAG</dc:title>
  <dc:subject>PptxGenJS Presentation</dc:subject>
  <dc:creator>PptxGenJS</dc:creator>
  <cp:lastModifiedBy>Sirish Kumar</cp:lastModifiedBy>
  <cp:revision>2</cp:revision>
  <dcterms:created xsi:type="dcterms:W3CDTF">2026-05-30T15:35:07Z</dcterms:created>
  <dcterms:modified xsi:type="dcterms:W3CDTF">2026-05-30T15:39:22Z</dcterms:modified>
</cp:coreProperties>
</file>