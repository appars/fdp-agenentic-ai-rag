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514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8275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- RAGAS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Assessment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metric is calculated — a deep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covered: Faithfulness · Answer Relevancy · Context Precision · Context Recall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Metrics Fall Short for RAG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7782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BLEU, ROUGE, BERTScore were not designed for grounded generation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98448"/>
            <a:ext cx="1737360" cy="512064"/>
          </a:xfrm>
          <a:prstGeom prst="rect">
            <a:avLst/>
          </a:prstGeom>
          <a:solidFill>
            <a:srgbClr val="111111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47472" y="1298448"/>
            <a:ext cx="16276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0" y="1298448"/>
            <a:ext cx="2560320" cy="512064"/>
          </a:xfrm>
          <a:prstGeom prst="rect">
            <a:avLst/>
          </a:prstGeom>
          <a:solidFill>
            <a:srgbClr val="111111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084832" y="1298448"/>
            <a:ext cx="24505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298448"/>
            <a:ext cx="4297680" cy="512064"/>
          </a:xfrm>
          <a:prstGeom prst="rect">
            <a:avLst/>
          </a:prstGeom>
          <a:solidFill>
            <a:srgbClr val="111111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645152" y="1298448"/>
            <a:ext cx="41879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Gap for RAG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810512"/>
            <a:ext cx="1737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47472" y="1810512"/>
            <a:ext cx="16276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/ F1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11680" y="1810512"/>
            <a:ext cx="25603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084832" y="1810512"/>
            <a:ext cx="24505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labels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810512"/>
            <a:ext cx="42976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645152" y="1810512"/>
            <a:ext cx="41879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produces free-form text — no fixed output classes to compare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322576"/>
            <a:ext cx="1737360" cy="51206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47472" y="2322576"/>
            <a:ext cx="16276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011680" y="2322576"/>
            <a:ext cx="2560320" cy="51206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084832" y="2322576"/>
            <a:ext cx="24505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 word overlap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2322576"/>
            <a:ext cx="4297680" cy="51206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645152" y="2322576"/>
            <a:ext cx="41879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Penalises valid paraphrasing; a correct answer in different words scores 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834640"/>
            <a:ext cx="1737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47472" y="2834640"/>
            <a:ext cx="16276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011680" y="2834640"/>
            <a:ext cx="25603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084832" y="2834640"/>
            <a:ext cx="24505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recall of n-grams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2834640"/>
            <a:ext cx="42976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645152" y="2834640"/>
            <a:ext cx="41879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only — misses semantic meaning and factual accuracy entirely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346704"/>
            <a:ext cx="1737360" cy="51206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47472" y="3346704"/>
            <a:ext cx="16276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BERTScore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011680" y="3346704"/>
            <a:ext cx="2560320" cy="51206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084832" y="3346704"/>
            <a:ext cx="24505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token similarity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0" y="3346704"/>
            <a:ext cx="4297680" cy="51206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645152" y="3346704"/>
            <a:ext cx="41879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reference answer; never checks if the answer is grounded in retrieved docs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10312" y="38587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BERTScore still isn't enough for RAG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74320" y="4133088"/>
            <a:ext cx="2788920" cy="896112"/>
          </a:xfrm>
          <a:prstGeom prst="rect">
            <a:avLst/>
          </a:prstGeom>
          <a:solidFill>
            <a:srgbClr val="F0F0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65760" y="416052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grounding check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5760" y="4416552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BERTScore compares the generated answer to a reference answer — not to the retrieved context. A hallucinated answer that sounds similar to the reference still scores high.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0" y="4133088"/>
            <a:ext cx="2788920" cy="896112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291840" y="416052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Reference dependency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291840" y="4416552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 human-written reference answer per question. Expensive to produce at scale, and a single reference misses many valid alternative phrasings.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26480" y="4133088"/>
            <a:ext cx="2788920" cy="896112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217920" y="416052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Blind to retrieval quality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17920" y="4416552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BERTScore has zero visibility into whether the retriever fetched the right chunks. It can't distinguish a well-grounded answer from a fluent hallucination.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BERTScore vs RAGAS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7782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semantic similarity alone is not enough to evaluate RAG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07008"/>
            <a:ext cx="8412480" cy="475488"/>
          </a:xfrm>
          <a:prstGeom prst="rect">
            <a:avLst/>
          </a:prstGeom>
          <a:solidFill>
            <a:srgbClr val="EEEEEE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75488" y="12070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question = "Who invented the telephone?"   |   Context chunk = "Alexander Graham Bell patented the telephone in 1876."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4114800" cy="3200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 (correct, grounded)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4114800" cy="411480"/>
          </a:xfrm>
          <a:prstGeom prst="rect">
            <a:avLst/>
          </a:prstGeom>
          <a:solidFill>
            <a:srgbClr val="EEEEEE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"Alexander Graham Bell invented the telephone."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828800"/>
            <a:ext cx="4114800" cy="3200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54880" y="1828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B (hallucination, fluent)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148840"/>
            <a:ext cx="4114800" cy="411480"/>
          </a:xfrm>
          <a:prstGeom prst="rect">
            <a:avLst/>
          </a:prstGeom>
          <a:solidFill>
            <a:srgbClr val="F0F0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46320" y="2148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"Thomas Edison invented the telephone in 1870."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237744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29768" y="2697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method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0" y="2697480"/>
            <a:ext cx="182880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807208" y="26974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 (correct)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2697480"/>
            <a:ext cx="228600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636008" y="2697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B (hallucination)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0" y="2697480"/>
            <a:ext cx="155448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922008" y="2697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error?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136392"/>
            <a:ext cx="2377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29768" y="31363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BERTScore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0" y="3136392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807208" y="313639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~0.92  (high)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0" y="3136392"/>
            <a:ext cx="2286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636008" y="313639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~0.88  (also high!)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858000" y="3136392"/>
            <a:ext cx="1554480" cy="4572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922008" y="313639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3575304"/>
            <a:ext cx="2377440" cy="45720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29768" y="357530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Faithfulness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0" y="3575304"/>
            <a:ext cx="1828800" cy="45720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807208" y="357530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 (all claims grounded)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0" y="3575304"/>
            <a:ext cx="2286000" cy="45720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636008" y="357530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 (no claim in context)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858000" y="3575304"/>
            <a:ext cx="1554480" cy="45720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922008" y="357530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65760" y="4014216"/>
            <a:ext cx="2377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29768" y="40142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Context Precision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0" y="4014216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2807208" y="401421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 (chunk is relevant)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572000" y="4014216"/>
            <a:ext cx="2286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636008" y="401421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 (chunk is still relevant)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858000" y="4014216"/>
            <a:ext cx="1554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922008" y="401421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N/A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65760" y="4453128"/>
            <a:ext cx="2377440" cy="45720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29768" y="44531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Answer Relevancy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743200" y="4453128"/>
            <a:ext cx="1828800" cy="45720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2807208" y="445312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~0.95  (on-topic)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572000" y="4453128"/>
            <a:ext cx="2286000" cy="45720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4636008" y="445312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~0.90  (on-topic but wrong)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858000" y="4453128"/>
            <a:ext cx="1554480" cy="45720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6922008" y="445312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Partial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365760" y="4761547"/>
            <a:ext cx="8412480" cy="347472"/>
          </a:xfrm>
          <a:prstGeom prst="rect">
            <a:avLst/>
          </a:prstGeom>
          <a:solidFill>
            <a:srgbClr val="F0F0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5" name="Text 53"/>
          <p:cNvSpPr/>
          <p:nvPr/>
        </p:nvSpPr>
        <p:spPr>
          <a:xfrm>
            <a:off x="502920" y="47548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BERTScore scores Answer B (hallucination) nearly as high as Answer A. RAGAS Faithfulness correctly gives it 0.0.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— Four Metrics, Two Perspectives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7782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covers both the retriever and the generator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114800" cy="43891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 quality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931920" cy="566928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Precision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3931920" cy="566928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Recall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4114800" cy="43891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54880" y="128016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quality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1828800"/>
            <a:ext cx="3931920" cy="566928"/>
          </a:xfrm>
          <a:prstGeom prst="rect">
            <a:avLst/>
          </a:prstGeom>
          <a:solidFill>
            <a:srgbClr val="EEEEEE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937760" y="182880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46320" y="2514600"/>
            <a:ext cx="3931920" cy="566928"/>
          </a:xfrm>
          <a:prstGeom prst="rect">
            <a:avLst/>
          </a:prstGeom>
          <a:solidFill>
            <a:srgbClr val="EEEEEE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937760" y="251460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Relevancy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" y="33375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required by RAGAS: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703320"/>
            <a:ext cx="2057400" cy="777240"/>
          </a:xfrm>
          <a:prstGeom prst="rect">
            <a:avLst/>
          </a:prstGeom>
          <a:solidFill>
            <a:srgbClr val="EEEEEE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65760" y="370332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050792"/>
            <a:ext cx="2057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query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0" y="3703320"/>
            <a:ext cx="2057400" cy="777240"/>
          </a:xfrm>
          <a:prstGeom prst="rect">
            <a:avLst/>
          </a:prstGeom>
          <a:solidFill>
            <a:srgbClr val="EEEEEE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560320" y="370332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60320" y="4050792"/>
            <a:ext cx="2057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LLM-generated response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3703320"/>
            <a:ext cx="2057400" cy="777240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754880" y="370332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4050792"/>
            <a:ext cx="2057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document chunks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49440" y="3703320"/>
            <a:ext cx="2057400" cy="777240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949440" y="370332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49440" y="4050792"/>
            <a:ext cx="2057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answer (recall)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— Calculation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7782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 how the score is produced from answer + context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02336" y="1234440"/>
            <a:ext cx="1463040" cy="658368"/>
          </a:xfrm>
          <a:prstGeom prst="rect">
            <a:avLst/>
          </a:prstGeom>
          <a:solidFill>
            <a:srgbClr val="EEEEEE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02336" y="1234440"/>
            <a:ext cx="1463040" cy="2743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02336" y="1234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48056" y="15270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01952" y="1563624"/>
            <a:ext cx="18288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121408" y="1234440"/>
            <a:ext cx="1463040" cy="658368"/>
          </a:xfrm>
          <a:prstGeom prst="rect">
            <a:avLst/>
          </a:prstGeom>
          <a:solidFill>
            <a:srgbClr val="EEEEEE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121408" y="1234440"/>
            <a:ext cx="1463040" cy="2743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121408" y="1234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LLM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67128" y="15270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21024" y="1563624"/>
            <a:ext cx="18288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840480" y="1234440"/>
            <a:ext cx="1463040" cy="658368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840480" y="1234440"/>
            <a:ext cx="1463040" cy="27432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840480" y="1234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86200" y="15270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40096" y="1563624"/>
            <a:ext cx="18288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559552" y="1234440"/>
            <a:ext cx="1463040" cy="658368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559552" y="1234440"/>
            <a:ext cx="1463040" cy="27432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559552" y="1234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LLM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claim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05272" y="15270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059168" y="1563624"/>
            <a:ext cx="18288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278624" y="1234440"/>
            <a:ext cx="1463040" cy="658368"/>
          </a:xfrm>
          <a:prstGeom prst="rect">
            <a:avLst/>
          </a:prstGeom>
          <a:solidFill>
            <a:srgbClr val="EEEEEE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278624" y="1234440"/>
            <a:ext cx="1463040" cy="2743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278624" y="1234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÷ total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24344" y="15270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8912" y="1975104"/>
            <a:ext cx="138988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"Einstein won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Nobel Prize"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157984" y="1975104"/>
            <a:ext cx="138988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splits answer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atomic facts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["born 1879",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"won Nobel Prize"]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77056" y="1975104"/>
            <a:ext cx="138988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chunks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FAISS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96128" y="1975104"/>
            <a:ext cx="138988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claim: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context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this?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True / False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15200" y="1975104"/>
            <a:ext cx="138988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2/3 = 0.67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= no hallucination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= full hallucination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316736" y="2976373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answer = "Einstein was born in 1879 in Germany and won the Nobel Prize."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234440" y="3593592"/>
            <a:ext cx="2926080" cy="320040"/>
          </a:xfrm>
          <a:prstGeom prst="rect">
            <a:avLst/>
          </a:prstGeom>
          <a:solidFill>
            <a:srgbClr val="111111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1289304" y="3593592"/>
            <a:ext cx="2852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160520" y="3593592"/>
            <a:ext cx="2194560" cy="320040"/>
          </a:xfrm>
          <a:prstGeom prst="rect">
            <a:avLst/>
          </a:prstGeom>
          <a:solidFill>
            <a:srgbClr val="111111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215384" y="3593592"/>
            <a:ext cx="2121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context?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55080" y="3593592"/>
            <a:ext cx="1463040" cy="320040"/>
          </a:xfrm>
          <a:prstGeom prst="rect">
            <a:avLst/>
          </a:prstGeom>
          <a:solidFill>
            <a:srgbClr val="111111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409944" y="3593592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234440" y="3895344"/>
            <a:ext cx="29260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1289304" y="3895344"/>
            <a:ext cx="2852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"born in 1879"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160520" y="3895344"/>
            <a:ext cx="21945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215384" y="3895344"/>
            <a:ext cx="2121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355080" y="3895344"/>
            <a:ext cx="1463040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409944" y="3895344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1234440" y="4197096"/>
            <a:ext cx="2926080" cy="3200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1289304" y="4197096"/>
            <a:ext cx="2852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"born in Germany"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160520" y="4197096"/>
            <a:ext cx="2194560" cy="3200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215384" y="4197096"/>
            <a:ext cx="2121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355080" y="4197096"/>
            <a:ext cx="1463040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6409944" y="4197096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1234440" y="4498848"/>
            <a:ext cx="29260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1289304" y="4498848"/>
            <a:ext cx="2852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"won Nobel Prize"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160520" y="4498848"/>
            <a:ext cx="21945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4215384" y="4498848"/>
            <a:ext cx="2121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355080" y="4498848"/>
            <a:ext cx="1463040" cy="32004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6409944" y="4498848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2633472" y="2843784"/>
            <a:ext cx="36576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= 2 ÷ 3 = 0.67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Relevancy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7782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generated answer actually address what was asked?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8412480" cy="548640"/>
          </a:xfrm>
          <a:prstGeom prst="rect">
            <a:avLst/>
          </a:prstGeom>
          <a:solidFill>
            <a:srgbClr val="EEEEEE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Relevancy  =  mean cosine similarity(generated questions, original question)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938528"/>
            <a:ext cx="384048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95681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question generation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231136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judge LLM reads only the generated answer and produces N questions that the answer could be responding to.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answer: "The Eiffel Tower is 330m tall and located in Paris."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Generated Qs: ["How tall is the Eiffel Tower?", "Where is the Eiffel Tower?"]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871216"/>
            <a:ext cx="384048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65760" y="2871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8895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similarity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3163824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generated question and the original question are embedded using the embedding model.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is computed between each generated Q and the original Q.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Similarity scores: [0.91, 0.88]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803904"/>
            <a:ext cx="384048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6576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38221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069461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Relevancy = mean of all similarity scores  →  (0.91 + 0.88) / 2 = 0.895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near 1.0 = answer is tightly relevant.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near 0.0 = answer is off-topic or evasive.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EEEEEE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292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Answer Relevancy → answer is vague, off-topic, or incomplete. Fix: improve your system prompt.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Precision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7782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chunks your retriever fetched actually relevant to answering the question?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8412480" cy="548640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Precision  =  weighted precision of relevant chunks ranked higher in the retrieved list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938528"/>
            <a:ext cx="384048" cy="38404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95681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labelling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231136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judge LLM is given the question and each retrieved chunk separately.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labels each chunk: relevant (1) or not relevant (0) for answering the question.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with 4 chunks retrieved: [1, 0, 1, 0]  (chunks 1 &amp; 3 are relevant)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871216"/>
            <a:ext cx="384048" cy="38404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65760" y="2871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8895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Precision@k for each rank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3163824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position k where a relevant chunk appears, compute precision@k.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Precision@1 = 1/1 = 1.0  (chunk 1 is relevant)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Precision@3 = 2/3 = 0.67  (2 relevant found in top 3)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803904"/>
            <a:ext cx="384048" cy="38404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6576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38221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mean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059936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Precision = mean of precision@k for all relevant positions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(1.0 + 0.67) / 2 = 0.835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matters: relevant chunks appearing earlier score higher.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292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Context Precision → retriever is fetching noisy chunks. Fix: increase similarity threshold, reduce top-k, better chunking.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Recall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7782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retriever find all the information needed to answer the question correctly?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8412480" cy="548640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Recall  =  (# reference sentences attributable to context)  ÷  (total # reference sentences)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938528"/>
            <a:ext cx="384048" cy="38404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95681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decomposition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231136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judge LLM splits the ground-truth reference answer into individual sentences.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"Einstein was born in 1879. He won the Nobel Prize in 1921. He developed relativity."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 sentences to check.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871216"/>
            <a:ext cx="384048" cy="38404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65760" y="2871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8895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check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3163824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reference sentence, the judge LLM checks: can this sentence be attributed to any retrieved chunk?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Sentence 1: Yes (chunk 2 mentions birth year)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Sentence 2: Yes (chunk 1 mentions Nobel Prize)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Sentence 3: No (not in any retrieved chunk)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803904"/>
            <a:ext cx="384048" cy="38404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6576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38221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4059936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Recall = attributed sentences ÷ total sentences  =  2 ÷ 3 = 0.667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1.0 means the retrieved context had everything needed.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1.0 means some facts were missing from retrieved chunks.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292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Context Recall → relevant docs are missing from your index. Fix: expand dataset, improve embedding model, increase top-k.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RAGAS Scores — Diagnostics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7782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pattern of scores to pinpoint where your pipeline is failing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2011680" cy="685800"/>
          </a:xfrm>
          <a:prstGeom prst="rect">
            <a:avLst/>
          </a:prstGeom>
          <a:solidFill>
            <a:srgbClr val="EEEEEE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126187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609344"/>
            <a:ext cx="2011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 – 1.0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261872"/>
            <a:ext cx="2011680" cy="685800"/>
          </a:xfrm>
          <a:prstGeom prst="rect">
            <a:avLst/>
          </a:prstGeom>
          <a:solidFill>
            <a:srgbClr val="EEEEEE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560320" y="126187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60320" y="1609344"/>
            <a:ext cx="2011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 – 0.8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61872"/>
            <a:ext cx="2011680" cy="685800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54880" y="126187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1609344"/>
            <a:ext cx="2011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 – 0.6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49440" y="1261872"/>
            <a:ext cx="2011680" cy="685800"/>
          </a:xfrm>
          <a:prstGeom prst="rect">
            <a:avLst/>
          </a:prstGeom>
          <a:solidFill>
            <a:srgbClr val="F0F0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949440" y="126187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49440" y="1609344"/>
            <a:ext cx="2011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– 0.4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103120"/>
            <a:ext cx="2286000" cy="429768"/>
          </a:xfrm>
          <a:prstGeom prst="rect">
            <a:avLst/>
          </a:prstGeom>
          <a:solidFill>
            <a:srgbClr val="111111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29768" y="2103120"/>
            <a:ext cx="2194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Score 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51760" y="2103120"/>
            <a:ext cx="3017520" cy="429768"/>
          </a:xfrm>
          <a:prstGeom prst="rect">
            <a:avLst/>
          </a:prstGeom>
          <a:solidFill>
            <a:srgbClr val="111111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715768" y="2103120"/>
            <a:ext cx="2926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0" y="2103120"/>
            <a:ext cx="3291840" cy="429768"/>
          </a:xfrm>
          <a:prstGeom prst="rect">
            <a:avLst/>
          </a:prstGeom>
          <a:solidFill>
            <a:srgbClr val="111111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733288" y="2103120"/>
            <a:ext cx="3200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532888"/>
            <a:ext cx="22860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29768" y="2532888"/>
            <a:ext cx="2194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651760" y="2532888"/>
            <a:ext cx="30175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715768" y="2532888"/>
            <a:ext cx="2926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hallucinating beyond context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0" y="2532888"/>
            <a:ext cx="32918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733288" y="2532888"/>
            <a:ext cx="3200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Stricter prompt / stronger model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2962656"/>
            <a:ext cx="2286000" cy="4297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29768" y="2962656"/>
            <a:ext cx="2194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Relevancy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651760" y="2962656"/>
            <a:ext cx="3017520" cy="4297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715768" y="2962656"/>
            <a:ext cx="2926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Off-topic or overly verbose answers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69280" y="2962656"/>
            <a:ext cx="3291840" cy="4297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733288" y="2962656"/>
            <a:ext cx="3200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system prompt, add focus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3392424"/>
            <a:ext cx="22860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29768" y="3392424"/>
            <a:ext cx="2194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Precision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651760" y="3392424"/>
            <a:ext cx="30175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715768" y="3392424"/>
            <a:ext cx="2926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 fetching irrelevant chunks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669280" y="3392424"/>
            <a:ext cx="32918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733288" y="3392424"/>
            <a:ext cx="3200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threshold / reduce top-k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65760" y="3822192"/>
            <a:ext cx="2286000" cy="4297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29768" y="3822192"/>
            <a:ext cx="2194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Recall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651760" y="3822192"/>
            <a:ext cx="3017520" cy="4297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2715768" y="3822192"/>
            <a:ext cx="2926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 misses needed documents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669280" y="3822192"/>
            <a:ext cx="3291840" cy="4297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733288" y="3822192"/>
            <a:ext cx="3200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index / better embeddings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65760" y="4251960"/>
            <a:ext cx="22860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29768" y="4251960"/>
            <a:ext cx="2194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↑ Recall ↓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651760" y="4251960"/>
            <a:ext cx="30175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2715768" y="4251960"/>
            <a:ext cx="2926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gaps; good quality, low cover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669280" y="4251960"/>
            <a:ext cx="32918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5733288" y="4251960"/>
            <a:ext cx="3200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documents to corpus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65760" y="4681728"/>
            <a:ext cx="2286000" cy="4297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429768" y="4681728"/>
            <a:ext cx="2194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↓ Recall ↑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651760" y="4681728"/>
            <a:ext cx="3017520" cy="4297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2715768" y="4681728"/>
            <a:ext cx="2926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retrieval; broad but messy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669280" y="4681728"/>
            <a:ext cx="3291840" cy="4297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5733288" y="4681728"/>
            <a:ext cx="3200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Tighter chunking + re-ranking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1288</Words>
  <Application>Microsoft Office PowerPoint</Application>
  <PresentationFormat>On-screen Show (16:9)</PresentationFormat>
  <Paragraphs>219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RAGAS Evaluation Framework</dc:title>
  <dc:subject>PptxGenJS Presentation</dc:subject>
  <dc:creator>PptxGenJS</dc:creator>
  <cp:lastModifiedBy>Sirish Kumar</cp:lastModifiedBy>
  <cp:revision>2</cp:revision>
  <dcterms:created xsi:type="dcterms:W3CDTF">2026-06-06T15:01:02Z</dcterms:created>
  <dcterms:modified xsi:type="dcterms:W3CDTF">2026-06-06T15:08:23Z</dcterms:modified>
</cp:coreProperties>
</file>