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agent decides when to retrieve,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retrieve, and how to answer.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502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Agentic?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005840"/>
            <a:ext cx="44805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00584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0607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Decision-Making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31673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whether retrieval is needed — it is not forced to look things up every 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44805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9659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0208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27685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 is a callable tool the LLM invokes on its own initiative.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926080"/>
            <a:ext cx="44805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2926080"/>
            <a:ext cx="54864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9809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23697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ReAct-style: Thought → Action → Observation → Answer.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44805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886200"/>
            <a:ext cx="5486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9410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19709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passages are synthesised into a coherent natural-language answer.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vs. Agentic RAG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06908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69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retrieves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65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goes to the vector store, no matter what.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69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0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not 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883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steps: retrieve → stuff → generate.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4069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awareness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112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sees chunks; it doesn't choose to search.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4069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965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to vague queries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3342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retrieval = bad answer, no fallback.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97280"/>
            <a:ext cx="406908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1612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1572768"/>
            <a:ext cx="40690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6276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 retrieve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865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reasons: 'I need external info' → calls the tool.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95728"/>
            <a:ext cx="40690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450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6883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(search) → Observation → Final Answer.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218688"/>
            <a:ext cx="40690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Tool-bound search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5112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 is a named tool the LLM invokes explicitly.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4041648"/>
            <a:ext cx="40690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0965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3342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answer from memory if retrieval is unnecessary.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Decision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192024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536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 retrieve context?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188720"/>
            <a:ext cx="19202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536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search_answers(query)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0" y="2743200"/>
            <a:ext cx="192024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28163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090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 matching document chunks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2743200"/>
            <a:ext cx="192024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28163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090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enough context now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192024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8163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090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natural language reply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1581912"/>
            <a:ext cx="5303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4721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581912"/>
            <a:ext cx="5303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721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2011680"/>
            <a:ext cx="0" cy="7132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6517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136392"/>
            <a:ext cx="20756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302666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0" y="3136392"/>
            <a:ext cx="5303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84832" y="302666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834640" y="1600200"/>
            <a:ext cx="0" cy="112471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331720" y="2011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if no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needed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52360" y="1188720"/>
            <a:ext cx="141732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1261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16368" y="1536192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not a passive pipeline step — it is an active decision-maker that reasons about whether to use the tool.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285292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Agentic RAG from classic RAG.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 — The Agent's Retrieval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6060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Signature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natural-language query string and returns relevant document text.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060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43000"/>
            <a:ext cx="260604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= Tool 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50876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the docstring to understand what the tool does and when to call 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060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Similarity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150876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2 most semantically similar chunks from the FAISS index.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95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Invokes the Tool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" y="28254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Arrives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asks a question in natural language.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278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32461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Thinks: 'I need external context to answer this.'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4845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" y="36667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Called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LLM emits tool call: search_answers(query='...')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329184" cy="3291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" y="4087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Returned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Top-2 passages from FAISS passed back as Observation.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9704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" y="4507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Formed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LLM synthesises the chunks into a coherent final answer.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23957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Tool Design Matters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278892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788920"/>
            <a:ext cx="4572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8437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docstring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whether to call the tool based solely on its description. A vague docstring = wrong usage.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611880"/>
            <a:ext cx="45720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6667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k value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3168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keeps context tight. Too many chunks overwhelm the context window; too few miss relevant info.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43484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434840"/>
            <a:ext cx="4572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489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format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709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joined text is easy for the LLM to parse. Structured output can help for complex multi-fact queries.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 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Three Real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822960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is DISE?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53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677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factual question about DISE — I should search the knowledge base.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88920" y="1453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88920" y="163677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search_answers("What is DISE?")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10912" y="1453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10912" y="163677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= Dept of Intelligent Systems Engineering, applied AI focus.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0" y="1453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75120" y="163677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stands for the Department of Intelligent Systems Engineering, focused on applied AI and preparing students for real-world roles.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61488" y="1463040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463040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1463040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82296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1401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How many students does DISE have?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79192"/>
            <a:ext cx="8229600" cy="8686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715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986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specific number — retrieval will give me a precise answer.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8920" y="2715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88920" y="28986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search_answers("how many students DISE")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10912" y="2715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10912" y="28986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40 students, mix of UG and PG.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75120" y="27157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0" y="28986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currently has around 40 students, including a mix of undergraduate and postgraduate learners.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61488" y="2724912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2724912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8" y="2724912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39312"/>
            <a:ext cx="82296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7588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How many stuents does it have?  (typo)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41064"/>
            <a:ext cx="82296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9776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6928" y="41605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search is fuzzy — the typo won't block retrieval; intent is clear.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88920" y="39776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88920" y="41605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search_answers("how many stuents")  — handles misspelling via semantic similarity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10912" y="39776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10912" y="41605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40-student chunk retrieved despite typo.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0" y="39776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75120" y="41605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currently has around 40 students, with a healthy mix of undergraduate and postgraduate learners.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61488" y="3986784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3986784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47688" y="3986784"/>
            <a:ext cx="0" cy="7498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&amp; LLM's Role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57200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(verbatim)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an intelligent Agentic RAG system.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 whether document retrieval is needed.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needed, use the search_docs tool."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389888"/>
            <a:ext cx="33375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49240" y="1389888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264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"Decide whether retrieval is needed"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1664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agentic behaviour: the LLM has discretion. It is NOT forced to retrieve.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709928"/>
            <a:ext cx="30175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349240" y="1901952"/>
            <a:ext cx="33375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1901952"/>
            <a:ext cx="457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93852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"Intelligent Agentic RAG system"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21762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persona — the model knows its role is reasoning, not just answering.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221992"/>
            <a:ext cx="30175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349240" y="2395728"/>
            <a:ext cx="33375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2395728"/>
            <a:ext cx="4572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4323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"If needed, use the search_docs tool"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4960" y="2670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instruction: tool use is a choice, not a mandate.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715768"/>
            <a:ext cx="301752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2743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Is Doing at Each Stage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127248"/>
            <a:ext cx="1508760" cy="1600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5478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8221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user's intent, including typos and ambiguity.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3127248"/>
            <a:ext cx="1508760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48256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139696" y="35478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39696" y="38221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if the tool is necessary to answer correctly.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0752" y="3127248"/>
            <a:ext cx="150876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30752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822192" y="35478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22192" y="38221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structured tool call with a refined query.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13248" y="3127248"/>
            <a:ext cx="1508760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13248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04688" y="35478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04688" y="38221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retrieved chunks and integrates them with prior reasoning.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95744" y="3127248"/>
            <a:ext cx="1508760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95744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187184" y="35478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87184" y="382219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grounded, coherent natural-language answer.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Simple Agentic RAG more than just retrieval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2651760" cy="1508760"/>
          </a:xfrm>
          <a:prstGeom prst="rect">
            <a:avLst/>
          </a:prstGeom>
          <a:solidFill>
            <a:srgbClr val="253A5E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99616"/>
            <a:ext cx="347472" cy="347472"/>
          </a:xfrm>
          <a:prstGeom prst="ellipse">
            <a:avLst/>
          </a:prstGeom>
          <a:solidFill>
            <a:srgbClr val="3B5280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" y="1517904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chooses when to retrieve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questions need the vector store. The LLM reasons first, then decides whether a tool call adds value.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389888"/>
            <a:ext cx="2651760" cy="1508760"/>
          </a:xfrm>
          <a:prstGeom prst="rect">
            <a:avLst/>
          </a:prstGeom>
          <a:solidFill>
            <a:srgbClr val="253A5E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99616"/>
            <a:ext cx="347472" cy="347472"/>
          </a:xfrm>
          <a:prstGeom prst="ellipse">
            <a:avLst/>
          </a:prstGeom>
          <a:solidFill>
            <a:srgbClr val="3B528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04488" y="1517904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the interface to knowledge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9385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search_answers is a first-class object the LLM can invoke — not a background pipeline step.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389888"/>
            <a:ext cx="2651760" cy="1508760"/>
          </a:xfrm>
          <a:prstGeom prst="rect">
            <a:avLst/>
          </a:prstGeom>
          <a:solidFill>
            <a:srgbClr val="253A5E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99616"/>
            <a:ext cx="347472" cy="347472"/>
          </a:xfrm>
          <a:prstGeom prst="ellipse">
            <a:avLst/>
          </a:prstGeom>
          <a:solidFill>
            <a:srgbClr val="3B528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39128" y="1517904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absorbs imperfection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9385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with sentence embeddings handles typos, paraphrases, and vague phrasing gracefully.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81528"/>
            <a:ext cx="2651760" cy="1508760"/>
          </a:xfrm>
          <a:prstGeom prst="rect">
            <a:avLst/>
          </a:prstGeom>
          <a:solidFill>
            <a:srgbClr val="253A5E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91256"/>
            <a:ext cx="347472" cy="347472"/>
          </a:xfrm>
          <a:prstGeom prst="ellipse">
            <a:avLst/>
          </a:prstGeom>
          <a:solidFill>
            <a:srgbClr val="3B52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" y="3209544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shapes agent behaviour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6301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short sentences turn a chat model into a reasoning agent that controls its own retrieval strategy.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081528"/>
            <a:ext cx="2651760" cy="1508760"/>
          </a:xfrm>
          <a:prstGeom prst="rect">
            <a:avLst/>
          </a:prstGeom>
          <a:solidFill>
            <a:srgbClr val="253A5E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191256"/>
            <a:ext cx="347472" cy="347472"/>
          </a:xfrm>
          <a:prstGeom prst="ellipse">
            <a:avLst/>
          </a:prstGeom>
          <a:solidFill>
            <a:srgbClr val="3B528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04488" y="3209544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= Thought + Action + Observation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6301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the product of explicit reasoning steps, not a single forward pass through the model.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3081528"/>
            <a:ext cx="2651760" cy="1508760"/>
          </a:xfrm>
          <a:prstGeom prst="rect">
            <a:avLst/>
          </a:prstGeom>
          <a:solidFill>
            <a:srgbClr val="253A5E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191256"/>
            <a:ext cx="347472" cy="347472"/>
          </a:xfrm>
          <a:prstGeom prst="ellipse">
            <a:avLst/>
          </a:prstGeom>
          <a:solidFill>
            <a:srgbClr val="3B5280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39128" y="3209544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richer agents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6301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memory, multi-tool use, or web search on top of this same pattern to build more capable systems.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Agentic RAG</dc:title>
  <dc:subject>PptxGenJS Presentation</dc:subject>
  <dc:creator>PptxGenJS</dc:creator>
  <cp:lastModifiedBy>PptxGenJS</cp:lastModifiedBy>
  <cp:revision>1</cp:revision>
  <dcterms:created xsi:type="dcterms:W3CDTF">2026-06-03T13:32:37Z</dcterms:created>
  <dcterms:modified xsi:type="dcterms:W3CDTF">2026-06-03T13:32:37Z</dcterms:modified>
</cp:coreProperties>
</file>